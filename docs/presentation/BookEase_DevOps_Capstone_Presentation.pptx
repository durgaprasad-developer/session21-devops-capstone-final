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examiners. Today I present BookEase, a complete SaaS medical appointment management system. More than just an app, this project demonstrates how code travels from local development through automated quality gates, container security, and Kubernetes orchestration to production-ready AWS Terraform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BookEase solves a real-world booking concurrency problem while strictly satisfying every requirement of the 10 DevOps Capstone modules. We prioritized production-grade engineering: non-root containers, security scanning gates, automated migrations, and zero-leak cloud infrastructure as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clear architecture separation: our local deployment is 100% live and verified, proving the application, database persistence, Ingress routing, HPA autoscaling, and Prometheus metrics. In parallel, our Terraform code defines the exact AWS VPC, subnets, NAT, and EKS v1.34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M1, BookEase exceeds the baseline requirements. We implemented 12 REST endpoints across doctors, patients, and appointments, alongside dedicated liveness (/health) and database readiness (/ready)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M2 testing features 16 automated test cases, far exceeding the 5-test rubric minimum. M3 ensures clean version control, semantic commit history, and strict secret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M4, both Dockerfiles enforce non-root execution. The frontend utilizes multi-stage builds with an unprivileged Nginx base image, and Docker Compose provides one-click local stack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M5 and M6 establish our automated quality gates. Every commit triggers automated unit testing, frontend compilation, and Trivy security scanning. Only images with zero High and Critical CVEs are tagged with the commit SHA and published to GHCR.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M7, our Terraform code defines complete, enterprise-ready AWS infrastructure. It provisions a multi-AZ VPC, private/public subnets, NAT Gateway, IAM roles, and an EKS cluster with managed node groups.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our cost engineering. By aligning to EKS v1.34 Standard Support, we prevent an extra $360/month in AWS surcharges. Our Terraform configuration is fully validated, while live cloud creation is safely deferred to protect student budgets.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M8, our Helm chart manages the entire application. We verified multi-replica deployments, persistent storage for PostgreSQL, Ingress traffic routing, and live Horizontal Pod Autoscaling under stress.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M9 demonstrates end-to-end observability. The FastAPI backend exposes Prometheus metrics, Prometheus scrapes all backend pods, and Grafana displays 6 live panels capturing request rates, latency, and resource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scorecard summarizes our verified performance. 90 out of 100 points are fully verified with reproducible logs and screenshots. M7 Terraform code is 100% valid and verified offline, with live cloud apply safely paused to prevent unnecessary student expenses.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True engineering maturity involves recognizing system limitations. In a high-traffic production environment, we would migrate Postgres to Amazon RDS Multi-AZ, terminate TLS via ACM, and introduce External Secrets Operator with AWS Secrets Manager.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evaluating BookEase. I am now open to your questions regarding any aspect of the application architecture, CI/CD pipeline, Kubernetes deployment, or AWS Terraform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657600"/>
          </a:xfrm>
          <a:prstGeom prst="rect">
            <a:avLst/>
          </a:prstGeom>
          <a:noFill/>
        </p:spPr>
        <p:txBody>
          <a:bodyPr wrap="square">
            <a:spAutoFit/>
          </a:bodyPr>
          <a:lstStyle/>
          <a:p>
            <a:pPr>
              <a:spcAft>
                <a:spcPts val="1400"/>
              </a:spcAft>
              <a:defRPr sz="1300" b="1">
                <a:solidFill>
                  <a:srgbClr val="0EA5E9"/>
                </a:solidFill>
              </a:defRPr>
            </a:pPr>
            <a:r>
              <a:t>SESSION 21 — DEVOPS FINAL CAPSTONE PROJECT</a:t>
            </a:r>
          </a:p>
          <a:p>
            <a:pPr>
              <a:spcAft>
                <a:spcPts val="1200"/>
              </a:spcAft>
              <a:defRPr sz="3600" b="1">
                <a:solidFill>
                  <a:srgbClr val="F8FAFC"/>
                </a:solidFill>
              </a:defRPr>
            </a:pPr>
            <a:r>
              <a:t>BookEase: Scalable Appointment Booking Platform</a:t>
            </a:r>
          </a:p>
          <a:p>
            <a:pPr>
              <a:spcAft>
                <a:spcPts val="2800"/>
              </a:spcAft>
              <a:defRPr sz="1800">
                <a:solidFill>
                  <a:srgbClr val="94A3B8"/>
                </a:solidFill>
              </a:defRPr>
            </a:pPr>
            <a:r>
              <a:t>End-to-End Cloud DevOps: From Containerization &amp; CI/CD to Kubernetes, HPA, Prometheus &amp; AWS Terraform IaC</a:t>
            </a:r>
          </a:p>
          <a:p>
            <a:pPr>
              <a:defRPr sz="1300" b="1">
                <a:solidFill>
                  <a:srgbClr val="14B8A6"/>
                </a:solidFill>
              </a:defRPr>
            </a:pPr>
            <a:r>
              <a:t>Candidate: Durga Prasad  |  Repository: session21-devops-capstone-final  |  Evaluated Score: 90/100 (Full Local &amp; IaC Proof)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Executive Summary: Business Domain &amp; DevOps Pillars</a:t>
            </a:r>
          </a:p>
        </p:txBody>
      </p:sp>
      <p:sp>
        <p:nvSpPr>
          <p:cNvPr id="5" name="Rounded Rectangle 4"/>
          <p:cNvSpPr/>
          <p:nvPr/>
        </p:nvSpPr>
        <p:spPr>
          <a:xfrm>
            <a:off x="7315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17520" cy="4206240"/>
          </a:xfrm>
          <a:prstGeom prst="rect">
            <a:avLst/>
          </a:prstGeom>
          <a:noFill/>
        </p:spPr>
        <p:txBody>
          <a:bodyPr wrap="square">
            <a:spAutoFit/>
          </a:bodyPr>
          <a:lstStyle/>
          <a:p>
            <a:pPr>
              <a:spcAft>
                <a:spcPts val="1000"/>
              </a:spcAft>
              <a:defRPr sz="1600" b="1">
                <a:solidFill>
                  <a:srgbClr val="14B8A6"/>
                </a:solidFill>
              </a:defRPr>
            </a:pPr>
            <a:r>
              <a:t>1. Business Application</a:t>
            </a:r>
          </a:p>
          <a:p>
            <a:pPr>
              <a:spcAft>
                <a:spcPts val="600"/>
              </a:spcAft>
              <a:defRPr sz="1200">
                <a:solidFill>
                  <a:srgbClr val="F8FAFC"/>
                </a:solidFill>
              </a:defRPr>
            </a:pPr>
            <a:r>
              <a:t>•  Enterprise medical appointment platform with patient records and doctor scheduling.</a:t>
            </a:r>
          </a:p>
          <a:p>
            <a:pPr>
              <a:spcAft>
                <a:spcPts val="600"/>
              </a:spcAft>
              <a:defRPr sz="1200">
                <a:solidFill>
                  <a:srgbClr val="F8FAFC"/>
                </a:solidFill>
              </a:defRPr>
            </a:pPr>
            <a:r>
              <a:t>•  FastAPI Python 3.12 backend with SQLAlchemy 2 and Alembic schema migrations.</a:t>
            </a:r>
          </a:p>
          <a:p>
            <a:pPr>
              <a:spcAft>
                <a:spcPts val="600"/>
              </a:spcAft>
              <a:defRPr sz="1200">
                <a:solidFill>
                  <a:srgbClr val="F8FAFC"/>
                </a:solidFill>
              </a:defRPr>
            </a:pPr>
            <a:r>
              <a:t>•  Modern React 18 + Vite frontend served via unprivileged Nginx reverse proxy.</a:t>
            </a:r>
          </a:p>
          <a:p>
            <a:pPr>
              <a:spcAft>
                <a:spcPts val="600"/>
              </a:spcAft>
              <a:defRPr sz="1200">
                <a:solidFill>
                  <a:srgbClr val="F8FAFC"/>
                </a:solidFill>
              </a:defRPr>
            </a:pPr>
            <a:r>
              <a:t>•  Comprehensive REST API covering full CRUD, statistics, and health probes.</a:t>
            </a:r>
          </a:p>
        </p:txBody>
      </p:sp>
      <p:sp>
        <p:nvSpPr>
          <p:cNvPr id="7" name="Rounded Rectangle 6"/>
          <p:cNvSpPr/>
          <p:nvPr/>
        </p:nvSpPr>
        <p:spPr>
          <a:xfrm>
            <a:off x="43891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17520" cy="4206240"/>
          </a:xfrm>
          <a:prstGeom prst="rect">
            <a:avLst/>
          </a:prstGeom>
          <a:noFill/>
        </p:spPr>
        <p:txBody>
          <a:bodyPr wrap="square">
            <a:spAutoFit/>
          </a:bodyPr>
          <a:lstStyle/>
          <a:p>
            <a:pPr>
              <a:spcAft>
                <a:spcPts val="1000"/>
              </a:spcAft>
              <a:defRPr sz="1600" b="1">
                <a:solidFill>
                  <a:srgbClr val="14B8A6"/>
                </a:solidFill>
              </a:defRPr>
            </a:pPr>
            <a:r>
              <a:t>2. Quality &amp; Security Gates</a:t>
            </a:r>
          </a:p>
          <a:p>
            <a:pPr>
              <a:spcAft>
                <a:spcPts val="600"/>
              </a:spcAft>
              <a:defRPr sz="1200">
                <a:solidFill>
                  <a:srgbClr val="F8FAFC"/>
                </a:solidFill>
              </a:defRPr>
            </a:pPr>
            <a:r>
              <a:t>•  16 automated Pytest unit tests running against isolated in-memory test database.</a:t>
            </a:r>
          </a:p>
          <a:p>
            <a:pPr>
              <a:spcAft>
                <a:spcPts val="600"/>
              </a:spcAft>
              <a:defRPr sz="1200">
                <a:solidFill>
                  <a:srgbClr val="F8FAFC"/>
                </a:solidFill>
              </a:defRPr>
            </a:pPr>
            <a:r>
              <a:t>•  GitHub Actions CI/CD triggered on push to main with zero manual steps.</a:t>
            </a:r>
          </a:p>
          <a:p>
            <a:pPr>
              <a:spcAft>
                <a:spcPts val="600"/>
              </a:spcAft>
              <a:defRPr sz="1200">
                <a:solidFill>
                  <a:srgbClr val="F8FAFC"/>
                </a:solidFill>
              </a:defRPr>
            </a:pPr>
            <a:r>
              <a:t>•  Trivy container security scanning enforcing 0 HIGH and 0 CRITICAL CVEs.</a:t>
            </a:r>
          </a:p>
          <a:p>
            <a:pPr>
              <a:spcAft>
                <a:spcPts val="600"/>
              </a:spcAft>
              <a:defRPr sz="1200">
                <a:solidFill>
                  <a:srgbClr val="F8FAFC"/>
                </a:solidFill>
              </a:defRPr>
            </a:pPr>
            <a:r>
              <a:t>•  Immutable container image publishing to GHCR with exact Git commit SHA tags.</a:t>
            </a:r>
          </a:p>
        </p:txBody>
      </p:sp>
      <p:sp>
        <p:nvSpPr>
          <p:cNvPr id="9" name="Rounded Rectangle 8"/>
          <p:cNvSpPr/>
          <p:nvPr/>
        </p:nvSpPr>
        <p:spPr>
          <a:xfrm>
            <a:off x="8046720" y="1645920"/>
            <a:ext cx="33832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14B8A6"/>
                </a:solidFill>
              </a:defRPr>
            </a:pPr>
            <a:r>
              <a:t>3. Cloud Infrastructure</a:t>
            </a:r>
          </a:p>
          <a:p>
            <a:pPr>
              <a:spcAft>
                <a:spcPts val="600"/>
              </a:spcAft>
              <a:defRPr sz="1200">
                <a:solidFill>
                  <a:srgbClr val="F8FAFC"/>
                </a:solidFill>
              </a:defRPr>
            </a:pPr>
            <a:r>
              <a:t>•  Production Helm chart with Ingress, multi-replica Deployments, and PVCs.</a:t>
            </a:r>
          </a:p>
          <a:p>
            <a:pPr>
              <a:spcAft>
                <a:spcPts val="600"/>
              </a:spcAft>
              <a:defRPr sz="1200">
                <a:solidFill>
                  <a:srgbClr val="F8FAFC"/>
                </a:solidFill>
              </a:defRPr>
            </a:pPr>
            <a:r>
              <a:t>•  Horizontal Pod Autoscaling (HPA v2) proven under live stress testing (2→5 pods).</a:t>
            </a:r>
          </a:p>
          <a:p>
            <a:pPr>
              <a:spcAft>
                <a:spcPts val="600"/>
              </a:spcAft>
              <a:defRPr sz="1200">
                <a:solidFill>
                  <a:srgbClr val="F8FAFC"/>
                </a:solidFill>
              </a:defRPr>
            </a:pPr>
            <a:r>
              <a:t>•  Prometheus &amp; Grafana observability stack with 6 populated live panels.</a:t>
            </a:r>
          </a:p>
          <a:p>
            <a:pPr>
              <a:spcAft>
                <a:spcPts val="600"/>
              </a:spcAft>
              <a:defRPr sz="1200">
                <a:solidFill>
                  <a:srgbClr val="F8FAFC"/>
                </a:solidFill>
              </a:defRPr>
            </a:pPr>
            <a:r>
              <a:t>•  Modular AWS Terraform IaC aligned to EKS Standard Support v1.34 ($0 cost mode).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System Architecture: Local Cluster vs. AWS Cloud Design</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Local Verified Cluster (Minikube / Helm)</a:t>
            </a:r>
          </a:p>
          <a:p>
            <a:pPr>
              <a:spcAft>
                <a:spcPts val="600"/>
              </a:spcAft>
              <a:defRPr sz="1200">
                <a:solidFill>
                  <a:srgbClr val="F8FAFC"/>
                </a:solidFill>
              </a:defRPr>
            </a:pPr>
            <a:r>
              <a:t>•  Ingress Controller: Nginx Ingress at 192.168.49.2 routing '/' and '/api'.</a:t>
            </a:r>
          </a:p>
          <a:p>
            <a:pPr>
              <a:spcAft>
                <a:spcPts val="600"/>
              </a:spcAft>
              <a:defRPr sz="1200">
                <a:solidFill>
                  <a:srgbClr val="F8FAFC"/>
                </a:solidFill>
              </a:defRPr>
            </a:pPr>
            <a:r>
              <a:t>•  Frontend Workload: 2x React 18 SPA pods (Nginx unprivileged, Port 80).</a:t>
            </a:r>
          </a:p>
          <a:p>
            <a:pPr>
              <a:spcAft>
                <a:spcPts val="600"/>
              </a:spcAft>
              <a:defRPr sz="1200">
                <a:solidFill>
                  <a:srgbClr val="F8FAFC"/>
                </a:solidFill>
              </a:defRPr>
            </a:pPr>
            <a:r>
              <a:t>•  Backend Workload: 2-5x FastAPI pods (Port 8000) auto-scaled by HPA on CPU.</a:t>
            </a:r>
          </a:p>
          <a:p>
            <a:pPr>
              <a:spcAft>
                <a:spcPts val="600"/>
              </a:spcAft>
              <a:defRPr sz="1200">
                <a:solidFill>
                  <a:srgbClr val="F8FAFC"/>
                </a:solidFill>
              </a:defRPr>
            </a:pPr>
            <a:r>
              <a:t>•  Database: PostgreSQL 16 stateful pod with bound 2Gi PersistentVolumeClaim.</a:t>
            </a:r>
          </a:p>
          <a:p>
            <a:pPr>
              <a:spcAft>
                <a:spcPts val="600"/>
              </a:spcAft>
              <a:defRPr sz="1200">
                <a:solidFill>
                  <a:srgbClr val="F8FAFC"/>
                </a:solidFill>
              </a:defRPr>
            </a:pPr>
            <a:r>
              <a:t>•  Init Job: Kubernetes Batch Job executing 'alembic upgrade head' at boot.</a:t>
            </a:r>
          </a:p>
          <a:p>
            <a:pPr>
              <a:spcAft>
                <a:spcPts val="600"/>
              </a:spcAft>
              <a:defRPr sz="1200">
                <a:solidFill>
                  <a:srgbClr val="F8FAFC"/>
                </a:solidFill>
              </a:defRPr>
            </a:pPr>
            <a:r>
              <a:t>•  Observability: Prometheus server (NodePort: 32090) scraping backend /metrics; Grafana UI (NodePort: 32000) showing live latency and request rates.</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Target AWS Production Architecture (Terraform IaC)</a:t>
            </a:r>
          </a:p>
          <a:p>
            <a:pPr>
              <a:spcAft>
                <a:spcPts val="600"/>
              </a:spcAft>
              <a:defRPr sz="1200">
                <a:solidFill>
                  <a:srgbClr val="F8FAFC"/>
                </a:solidFill>
              </a:defRPr>
            </a:pPr>
            <a:r>
              <a:t>•  Amazon VPC: 10.0.0.0/16 across 2 Availability Zones (ap-south-1a &amp; 1b).</a:t>
            </a:r>
          </a:p>
          <a:p>
            <a:pPr>
              <a:spcAft>
                <a:spcPts val="600"/>
              </a:spcAft>
              <a:defRPr sz="1200">
                <a:solidFill>
                  <a:srgbClr val="F8FAFC"/>
                </a:solidFill>
              </a:defRPr>
            </a:pPr>
            <a:r>
              <a:t>•  Subnet Isolation: 2 Public subnets for ALBs/IGW; 2 Private subnets for EKS worker nodes.</a:t>
            </a:r>
          </a:p>
          <a:p>
            <a:pPr>
              <a:spcAft>
                <a:spcPts val="600"/>
              </a:spcAft>
              <a:defRPr sz="1200">
                <a:solidFill>
                  <a:srgbClr val="F8FAFC"/>
                </a:solidFill>
              </a:defRPr>
            </a:pPr>
            <a:r>
              <a:t>•  Egress: Single cost-optimized NAT Gateway with Elastic IP for private worker outbound.</a:t>
            </a:r>
          </a:p>
          <a:p>
            <a:pPr>
              <a:spcAft>
                <a:spcPts val="600"/>
              </a:spcAft>
              <a:defRPr sz="1200">
                <a:solidFill>
                  <a:srgbClr val="F8FAFC"/>
                </a:solidFill>
              </a:defRPr>
            </a:pPr>
            <a:r>
              <a:t>•  EKS Control Plane: Managed Kubernetes v1.34 with private &amp; public API endpoints.</a:t>
            </a:r>
          </a:p>
          <a:p>
            <a:pPr>
              <a:spcAft>
                <a:spcPts val="600"/>
              </a:spcAft>
              <a:defRPr sz="1200">
                <a:solidFill>
                  <a:srgbClr val="F8FAFC"/>
                </a:solidFill>
              </a:defRPr>
            </a:pPr>
            <a:r>
              <a:t>•  Managed Node Group: 2x t3.medium EC2 instances (scaling 1-4) with 20GiB gp3 disks.</a:t>
            </a:r>
          </a:p>
          <a:p>
            <a:pPr>
              <a:spcAft>
                <a:spcPts val="600"/>
              </a:spcAft>
              <a:defRPr sz="1200">
                <a:solidFill>
                  <a:srgbClr val="F8FAFC"/>
                </a:solidFill>
              </a:defRPr>
            </a:pPr>
            <a:r>
              <a:t>•  EKS Add-ons: vpc-cni, CoreDNS, and kube-proxy managed declaratively in Terraform.</a:t>
            </a:r>
          </a:p>
          <a:p>
            <a:pPr>
              <a:spcAft>
                <a:spcPts val="600"/>
              </a:spcAft>
              <a:defRPr sz="1200">
                <a:solidFill>
                  <a:srgbClr val="F8FAFC"/>
                </a:solidFill>
              </a:defRPr>
            </a:pPr>
            <a:r>
              <a:t>•  Cost Control: Kept in validated IaC state ($0.00 spent) to prevent student bill overrun.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M1: Application, Data Model &amp; REST Endpoints</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FastAPI Backend &amp; Data Model</a:t>
            </a:r>
          </a:p>
          <a:p>
            <a:pPr>
              <a:spcAft>
                <a:spcPts val="600"/>
              </a:spcAft>
              <a:defRPr sz="1200">
                <a:solidFill>
                  <a:srgbClr val="F8FAFC"/>
                </a:solidFill>
              </a:defRPr>
            </a:pPr>
            <a:r>
              <a:t>•  FastAPI 0.115+ framework with Pydantic v2 data validation schemas.</a:t>
            </a:r>
          </a:p>
          <a:p>
            <a:pPr>
              <a:spcAft>
                <a:spcPts val="600"/>
              </a:spcAft>
              <a:defRPr sz="1200">
                <a:solidFill>
                  <a:srgbClr val="F8FAFC"/>
                </a:solidFill>
              </a:defRPr>
            </a:pPr>
            <a:r>
              <a:t>•  Three relational entities: Patients, Doctors (with specialty and availability hours), and Appointments.</a:t>
            </a:r>
          </a:p>
          <a:p>
            <a:pPr>
              <a:spcAft>
                <a:spcPts val="600"/>
              </a:spcAft>
              <a:defRPr sz="1200">
                <a:solidFill>
                  <a:srgbClr val="F8FAFC"/>
                </a:solidFill>
              </a:defRPr>
            </a:pPr>
            <a:r>
              <a:t>•  Business Logic: Automatic conflict rejection if overlapping appointments are scheduled with the same doctor.</a:t>
            </a:r>
          </a:p>
          <a:p>
            <a:pPr>
              <a:spcAft>
                <a:spcPts val="600"/>
              </a:spcAft>
              <a:defRPr sz="1200">
                <a:solidFill>
                  <a:srgbClr val="F8FAFC"/>
                </a:solidFill>
              </a:defRPr>
            </a:pPr>
            <a:r>
              <a:t>•  Automated Database Migrations: Alembic tracks schema changes; 001_initial_schema creates tables cleanly.</a:t>
            </a:r>
          </a:p>
          <a:p>
            <a:pPr>
              <a:spcAft>
                <a:spcPts val="600"/>
              </a:spcAft>
              <a:defRPr sz="1200">
                <a:solidFill>
                  <a:srgbClr val="F8FAFC"/>
                </a:solidFill>
              </a:defRPr>
            </a:pPr>
            <a:r>
              <a:t>•  Interactive Documentation: Swagger UI live at /docs and OpenAPI at /openapi.json.</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Production Health Probes &amp; Endpoints</a:t>
            </a:r>
          </a:p>
          <a:p>
            <a:pPr>
              <a:spcAft>
                <a:spcPts val="600"/>
              </a:spcAft>
              <a:defRPr sz="1200">
                <a:solidFill>
                  <a:srgbClr val="F8FAFC"/>
                </a:solidFill>
              </a:defRPr>
            </a:pPr>
            <a:r>
              <a:t>•  GET /health: Lightweight liveness probe returning {'status':'healthy'}.</a:t>
            </a:r>
          </a:p>
          <a:p>
            <a:pPr>
              <a:spcAft>
                <a:spcPts val="600"/>
              </a:spcAft>
              <a:defRPr sz="1200">
                <a:solidFill>
                  <a:srgbClr val="F8FAFC"/>
                </a:solidFill>
              </a:defRPr>
            </a:pPr>
            <a:r>
              <a:t>•  GET /ready: Readiness probe executing 'SELECT 1' against PostgreSQL to verify active DB connection before serving traffic.</a:t>
            </a:r>
          </a:p>
          <a:p>
            <a:pPr>
              <a:spcAft>
                <a:spcPts val="600"/>
              </a:spcAft>
              <a:defRPr sz="1200">
                <a:solidFill>
                  <a:srgbClr val="F8FAFC"/>
                </a:solidFill>
              </a:defRPr>
            </a:pPr>
            <a:r>
              <a:t>•  GET /metrics: Prometheus machine-readable metrics (FastAPI Instrumentator).</a:t>
            </a:r>
          </a:p>
          <a:p>
            <a:pPr>
              <a:spcAft>
                <a:spcPts val="600"/>
              </a:spcAft>
              <a:defRPr sz="1200">
                <a:solidFill>
                  <a:srgbClr val="F8FAFC"/>
                </a:solidFill>
              </a:defRPr>
            </a:pPr>
            <a:r>
              <a:t>•  REST APIs: Full CRUD across /api/appointments, /api/doctors, and /api/patients.</a:t>
            </a:r>
          </a:p>
          <a:p>
            <a:pPr>
              <a:spcAft>
                <a:spcPts val="600"/>
              </a:spcAft>
              <a:defRPr sz="1200">
                <a:solidFill>
                  <a:srgbClr val="F8FAFC"/>
                </a:solidFill>
              </a:defRPr>
            </a:pPr>
            <a:r>
              <a:t>•  GET /api/appointments/stats: Live KPI aggregation (total, scheduled, completed, cancelled) for dashboard cards.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Modules M2 &amp; M3: Testing Suite &amp; Repository Hygiene</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M2: 16 Passing Pytest Unit Tests</a:t>
            </a:r>
          </a:p>
          <a:p>
            <a:pPr>
              <a:spcAft>
                <a:spcPts val="600"/>
              </a:spcAft>
              <a:defRPr sz="1200">
                <a:solidFill>
                  <a:srgbClr val="F8FAFC"/>
                </a:solidFill>
              </a:defRPr>
            </a:pPr>
            <a:r>
              <a:t>•  Test Isolation: Tests execute against an isolated in-memory SQLite database via conftest.py fixtures — production DB is never touched.</a:t>
            </a:r>
          </a:p>
          <a:p>
            <a:pPr>
              <a:spcAft>
                <a:spcPts val="600"/>
              </a:spcAft>
              <a:defRPr sz="1200">
                <a:solidFill>
                  <a:srgbClr val="F8FAFC"/>
                </a:solidFill>
              </a:defRPr>
            </a:pPr>
            <a:r>
              <a:t>•  Appointment Scheduling: Tests create, update status, fetch by ID, and list appointments.</a:t>
            </a:r>
          </a:p>
          <a:p>
            <a:pPr>
              <a:spcAft>
                <a:spcPts val="600"/>
              </a:spcAft>
              <a:defRPr sz="1200">
                <a:solidFill>
                  <a:srgbClr val="F8FAFC"/>
                </a:solidFill>
              </a:defRPr>
            </a:pPr>
            <a:r>
              <a:t>•  Doctor &amp; Patient Management: Profile creation, availability validation, and deletion tests.</a:t>
            </a:r>
          </a:p>
          <a:p>
            <a:pPr>
              <a:spcAft>
                <a:spcPts val="600"/>
              </a:spcAft>
              <a:defRPr sz="1200">
                <a:solidFill>
                  <a:srgbClr val="F8FAFC"/>
                </a:solidFill>
              </a:defRPr>
            </a:pPr>
            <a:r>
              <a:t>•  Validation &amp; Error Handling: Verifies rejection when end_time is before start_time and when non-existent IDs are queried.</a:t>
            </a:r>
          </a:p>
          <a:p>
            <a:pPr>
              <a:spcAft>
                <a:spcPts val="600"/>
              </a:spcAft>
              <a:defRPr sz="1200">
                <a:solidFill>
                  <a:srgbClr val="F8FAFC"/>
                </a:solidFill>
              </a:defRPr>
            </a:pPr>
            <a:r>
              <a:t>•  Health Endpoint Tests: Validates /health and /root response schemas.</a:t>
            </a:r>
          </a:p>
          <a:p>
            <a:pPr>
              <a:spcAft>
                <a:spcPts val="600"/>
              </a:spcAft>
              <a:defRPr sz="1200">
                <a:solidFill>
                  <a:srgbClr val="F8FAFC"/>
                </a:solidFill>
              </a:defRPr>
            </a:pPr>
            <a:r>
              <a:t>•  Result: 16 passed, 0 failed in 1.39s (recorded in docs/pytest_output.txt).</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M3: Git Version Control &amp; Hygiene</a:t>
            </a:r>
          </a:p>
          <a:p>
            <a:pPr>
              <a:spcAft>
                <a:spcPts val="600"/>
              </a:spcAft>
              <a:defRPr sz="1200">
                <a:solidFill>
                  <a:srgbClr val="F8FAFC"/>
                </a:solidFill>
              </a:defRPr>
            </a:pPr>
            <a:r>
              <a:t>•  Public GitHub Repository: https://github.com/Durgaprasad-Developer/session21-devops-capstone-final</a:t>
            </a:r>
          </a:p>
          <a:p>
            <a:pPr>
              <a:spcAft>
                <a:spcPts val="600"/>
              </a:spcAft>
              <a:defRPr sz="1200">
                <a:solidFill>
                  <a:srgbClr val="F8FAFC"/>
                </a:solidFill>
              </a:defRPr>
            </a:pPr>
            <a:r>
              <a:t>•  12+ Semantic Commits: Using Conventional Commits (feat, fix, docs, chore).</a:t>
            </a:r>
          </a:p>
          <a:p>
            <a:pPr>
              <a:spcAft>
                <a:spcPts val="600"/>
              </a:spcAft>
              <a:defRPr sz="1200">
                <a:solidFill>
                  <a:srgbClr val="F8FAFC"/>
                </a:solidFill>
              </a:defRPr>
            </a:pPr>
            <a:r>
              <a:t>•  Exclusion Rules (.gitignore): Strictly excludes .env, credentials, *.tfstate, .terraform/, __pycache__, and node_modules.</a:t>
            </a:r>
          </a:p>
          <a:p>
            <a:pPr>
              <a:spcAft>
                <a:spcPts val="600"/>
              </a:spcAft>
              <a:defRPr sz="1200">
                <a:solidFill>
                  <a:srgbClr val="F8FAFC"/>
                </a:solidFill>
              </a:defRPr>
            </a:pPr>
            <a:r>
              <a:t>•  Zero Secret Leaks: Comprehensive repository scan confirms zero AWS access keys or passwords committed to Git history.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M4: Hardened Containers &amp; Docker Compose</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Hardened Multi-Stage Dockerfiles</a:t>
            </a:r>
          </a:p>
          <a:p>
            <a:pPr>
              <a:spcAft>
                <a:spcPts val="600"/>
              </a:spcAft>
              <a:defRPr sz="1200">
                <a:solidFill>
                  <a:srgbClr val="F8FAFC"/>
                </a:solidFill>
              </a:defRPr>
            </a:pPr>
            <a:r>
              <a:t>•  Backend (backend/Dockerfile): Python 3.12 slim base; runs as dedicated non-root user 'appuser' (UID:GID 100:101); includes curl for healthcheck.</a:t>
            </a:r>
          </a:p>
          <a:p>
            <a:pPr>
              <a:spcAft>
                <a:spcPts val="600"/>
              </a:spcAft>
              <a:defRPr sz="1200">
                <a:solidFill>
                  <a:srgbClr val="F8FAFC"/>
                </a:solidFill>
              </a:defRPr>
            </a:pPr>
            <a:r>
              <a:t>•  Frontend (frontend/Dockerfile): Multi-stage build — Stage 1 compiles React assets using Node 20 Alpine; Stage 2 serves optimized static files via nginxinc/nginx-unprivileged:1.27-alpine (UID 101).</a:t>
            </a:r>
          </a:p>
          <a:p>
            <a:pPr>
              <a:spcAft>
                <a:spcPts val="600"/>
              </a:spcAft>
              <a:defRPr sz="1200">
                <a:solidFill>
                  <a:srgbClr val="F8FAFC"/>
                </a:solidFill>
              </a:defRPr>
            </a:pPr>
            <a:r>
              <a:t>•  Security Posture: Dropped root privileges across all application containers to prevent privilege escalation vulnerabilities.</a:t>
            </a:r>
          </a:p>
          <a:p>
            <a:pPr>
              <a:spcAft>
                <a:spcPts val="600"/>
              </a:spcAft>
              <a:defRPr sz="1200">
                <a:solidFill>
                  <a:srgbClr val="F8FAFC"/>
                </a:solidFill>
              </a:defRPr>
            </a:pPr>
            <a:r>
              <a:t>•  Optimized Image Size: Frontend image ~30MB; Backend image ~180MB.</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Docker Compose Local Orchestration</a:t>
            </a:r>
          </a:p>
          <a:p>
            <a:pPr>
              <a:spcAft>
                <a:spcPts val="600"/>
              </a:spcAft>
              <a:defRPr sz="1200">
                <a:solidFill>
                  <a:srgbClr val="F8FAFC"/>
                </a:solidFill>
              </a:defRPr>
            </a:pPr>
            <a:r>
              <a:t>•  Three-Service Stack: frontend (Port 3000), backend (Port 8000), and postgres:16-alpine (Port 5432).</a:t>
            </a:r>
          </a:p>
          <a:p>
            <a:pPr>
              <a:spcAft>
                <a:spcPts val="600"/>
              </a:spcAft>
              <a:defRPr sz="1200">
                <a:solidFill>
                  <a:srgbClr val="F8FAFC"/>
                </a:solidFill>
              </a:defRPr>
            </a:pPr>
            <a:r>
              <a:t>•  Dependency Management: Backend service waits for Postgres health check before starting.</a:t>
            </a:r>
          </a:p>
          <a:p>
            <a:pPr>
              <a:spcAft>
                <a:spcPts val="600"/>
              </a:spcAft>
              <a:defRPr sz="1200">
                <a:solidFill>
                  <a:srgbClr val="F8FAFC"/>
                </a:solidFill>
              </a:defRPr>
            </a:pPr>
            <a:r>
              <a:t>•  Alembic Auto-Boot: Backend entrypoint applies pending database migrations on startup.</a:t>
            </a:r>
          </a:p>
          <a:p>
            <a:pPr>
              <a:spcAft>
                <a:spcPts val="600"/>
              </a:spcAft>
              <a:defRPr sz="1200">
                <a:solidFill>
                  <a:srgbClr val="F8FAFC"/>
                </a:solidFill>
              </a:defRPr>
            </a:pPr>
            <a:r>
              <a:t>•  One-Command Startup: 'docker compose up --build -d' brings up the complete environment in under 30 seconds.</a:t>
            </a:r>
          </a:p>
          <a:p>
            <a:pPr>
              <a:spcAft>
                <a:spcPts val="600"/>
              </a:spcAft>
              <a:defRPr sz="1200">
                <a:solidFill>
                  <a:srgbClr val="F8FAFC"/>
                </a:solidFill>
              </a:defRPr>
            </a:pPr>
            <a:r>
              <a:t>•  Verified Status: Recorded in docs/docker_compose_status.txt.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Modules M5 &amp; M6: GitHub Actions CI/CD &amp; DevSecOps Gates</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M5: Four-Stage Automated CI/CD</a:t>
            </a:r>
          </a:p>
          <a:p>
            <a:pPr>
              <a:spcAft>
                <a:spcPts val="600"/>
              </a:spcAft>
              <a:defRPr sz="1200">
                <a:solidFill>
                  <a:srgbClr val="F8FAFC"/>
                </a:solidFill>
              </a:defRPr>
            </a:pPr>
            <a:r>
              <a:t>•  Trigger: Automatically runs on every push to main in .github/workflows/ci.yml.</a:t>
            </a:r>
          </a:p>
          <a:p>
            <a:pPr>
              <a:spcAft>
                <a:spcPts val="600"/>
              </a:spcAft>
              <a:defRPr sz="1200">
                <a:solidFill>
                  <a:srgbClr val="F8FAFC"/>
                </a:solidFill>
              </a:defRPr>
            </a:pPr>
            <a:r>
              <a:t>•  Stage 1 (test): Executes Pytest suite on Python 3.12 with SQLite. Pipeline halts immediately on failure.</a:t>
            </a:r>
          </a:p>
          <a:p>
            <a:pPr>
              <a:spcAft>
                <a:spcPts val="600"/>
              </a:spcAft>
              <a:defRPr sz="1200">
                <a:solidFill>
                  <a:srgbClr val="F8FAFC"/>
                </a:solidFill>
              </a:defRPr>
            </a:pPr>
            <a:r>
              <a:t>•  Stage 2 (build-frontend): Runs 'npm run build' with Vite to catch static bundle defects.</a:t>
            </a:r>
          </a:p>
          <a:p>
            <a:pPr>
              <a:spcAft>
                <a:spcPts val="600"/>
              </a:spcAft>
              <a:defRPr sz="1200">
                <a:solidFill>
                  <a:srgbClr val="F8FAFC"/>
                </a:solidFill>
              </a:defRPr>
            </a:pPr>
            <a:r>
              <a:t>•  Stage 3 (docker-build-scan): Builds Docker images for backend &amp; frontend.</a:t>
            </a:r>
          </a:p>
          <a:p>
            <a:pPr>
              <a:spcAft>
                <a:spcPts val="600"/>
              </a:spcAft>
              <a:defRPr sz="1200">
                <a:solidFill>
                  <a:srgbClr val="F8FAFC"/>
                </a:solidFill>
              </a:defRPr>
            </a:pPr>
            <a:r>
              <a:t>•  Stage 4 (publish): Pushes verified images to GitHub Container Registry (GHCR) tagged with the exact Git commit SHA (e.g., :2be5d62...).</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M6: Trivy Container Vulnerability Scan</a:t>
            </a:r>
          </a:p>
          <a:p>
            <a:pPr>
              <a:spcAft>
                <a:spcPts val="600"/>
              </a:spcAft>
              <a:defRPr sz="1200">
                <a:solidFill>
                  <a:srgbClr val="F8FAFC"/>
                </a:solidFill>
              </a:defRPr>
            </a:pPr>
            <a:r>
              <a:t>•  Strict DevSecOps Policy: Integrated aquasecurity/trivy-action in CI.</a:t>
            </a:r>
          </a:p>
          <a:p>
            <a:pPr>
              <a:spcAft>
                <a:spcPts val="600"/>
              </a:spcAft>
              <a:defRPr sz="1200">
                <a:solidFill>
                  <a:srgbClr val="F8FAFC"/>
                </a:solidFill>
              </a:defRPr>
            </a:pPr>
            <a:r>
              <a:t>•  Failure Gate: Configured with 'exit-code: 1' and 'severity: CRITICAL,HIGH'.</a:t>
            </a:r>
          </a:p>
          <a:p>
            <a:pPr>
              <a:spcAft>
                <a:spcPts val="600"/>
              </a:spcAft>
              <a:defRPr sz="1200">
                <a:solidFill>
                  <a:srgbClr val="F8FAFC"/>
                </a:solidFill>
              </a:defRPr>
            </a:pPr>
            <a:r>
              <a:t>•  Remediated Findings: Upgraded dependencies to resolve CVE-2025-62727 and patched OS libraries using Alpine security updates.</a:t>
            </a:r>
          </a:p>
          <a:p>
            <a:pPr>
              <a:spcAft>
                <a:spcPts val="600"/>
              </a:spcAft>
              <a:defRPr sz="1200">
                <a:solidFill>
                  <a:srgbClr val="F8FAFC"/>
                </a:solidFill>
              </a:defRPr>
            </a:pPr>
            <a:r>
              <a:t>•  Clean Scan Result: Zero HIGH and zero CRITICAL CVEs present in published GHCR images.</a:t>
            </a:r>
          </a:p>
          <a:p>
            <a:pPr>
              <a:spcAft>
                <a:spcPts val="600"/>
              </a:spcAft>
              <a:defRPr sz="1200">
                <a:solidFill>
                  <a:srgbClr val="F8FAFC"/>
                </a:solidFill>
              </a:defRPr>
            </a:pPr>
            <a:r>
              <a:t>•  GHCR Artifacts: Publicly accessible at ghcr.io/durgaprasad-developer/session21-devops-capstone-final.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M7: AWS Infrastructure as Code (Terraform)</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Terraform Modular IaC Architecture</a:t>
            </a:r>
          </a:p>
          <a:p>
            <a:pPr>
              <a:spcAft>
                <a:spcPts val="600"/>
              </a:spcAft>
              <a:defRPr sz="1200">
                <a:solidFill>
                  <a:srgbClr val="F8FAFC"/>
                </a:solidFill>
              </a:defRPr>
            </a:pPr>
            <a:r>
              <a:t>•  Provider &amp; Tooling: HashiCorp AWS Provider ~&gt; 5.50; Terraform &gt;= 1.5.0, &lt; 2.0.0.</a:t>
            </a:r>
          </a:p>
          <a:p>
            <a:pPr>
              <a:spcAft>
                <a:spcPts val="600"/>
              </a:spcAft>
              <a:defRPr sz="1200">
                <a:solidFill>
                  <a:srgbClr val="F8FAFC"/>
                </a:solidFill>
              </a:defRPr>
            </a:pPr>
            <a:r>
              <a:t>•  VPC &amp; Subnets: 10.0.0.0/16 VPC spanning 2 AZs (ap-south-1a, ap-south-1b). 2 Public subnets (10.0.1.0/24, 10.0.2.0/24) and 2 Private subnets (10.0.10.0/24, 10.0.20.0/24).</a:t>
            </a:r>
          </a:p>
          <a:p>
            <a:pPr>
              <a:spcAft>
                <a:spcPts val="600"/>
              </a:spcAft>
              <a:defRPr sz="1200">
                <a:solidFill>
                  <a:srgbClr val="F8FAFC"/>
                </a:solidFill>
              </a:defRPr>
            </a:pPr>
            <a:r>
              <a:t>•  Subnet Tagging: Configured with kubernetes.io/role/elb=1 and kubernetes.io/role/internal-elb=1 for AWS Load Balancer discovery.</a:t>
            </a:r>
          </a:p>
          <a:p>
            <a:pPr>
              <a:spcAft>
                <a:spcPts val="600"/>
              </a:spcAft>
              <a:defRPr sz="1200">
                <a:solidFill>
                  <a:srgbClr val="F8FAFC"/>
                </a:solidFill>
              </a:defRPr>
            </a:pPr>
            <a:r>
              <a:t>•  NAT Gateway: Cost-optimized single NAT Gateway with Elastic IP for worker node outbound connectivity.</a:t>
            </a:r>
          </a:p>
          <a:p>
            <a:pPr>
              <a:spcAft>
                <a:spcPts val="600"/>
              </a:spcAft>
              <a:defRPr sz="1200">
                <a:solidFill>
                  <a:srgbClr val="F8FAFC"/>
                </a:solidFill>
              </a:defRPr>
            </a:pPr>
            <a:r>
              <a:t>•  Security Groups: EKS control plane and worker node ingress/egress rules.</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EKS Control Plane &amp; Worker Nodes</a:t>
            </a:r>
          </a:p>
          <a:p>
            <a:pPr>
              <a:spcAft>
                <a:spcPts val="600"/>
              </a:spcAft>
              <a:defRPr sz="1200">
                <a:solidFill>
                  <a:srgbClr val="F8FAFC"/>
                </a:solidFill>
              </a:defRPr>
            </a:pPr>
            <a:r>
              <a:t>•  Kubernetes Version: v1.34 under AWS Standard Support (avoids Extended Support charges).</a:t>
            </a:r>
          </a:p>
          <a:p>
            <a:pPr>
              <a:spcAft>
                <a:spcPts val="600"/>
              </a:spcAft>
              <a:defRPr sz="1200">
                <a:solidFill>
                  <a:srgbClr val="F8FAFC"/>
                </a:solidFill>
              </a:defRPr>
            </a:pPr>
            <a:r>
              <a:t>•  IAM Least Privilege: Separate IAM roles for control plane (AmazonEKSClusterPolicy) and nodes (WorkerNodePolicy, CNI_Policy, ContainerRegistryReadOnly).</a:t>
            </a:r>
          </a:p>
          <a:p>
            <a:pPr>
              <a:spcAft>
                <a:spcPts val="600"/>
              </a:spcAft>
              <a:defRPr sz="1200">
                <a:solidFill>
                  <a:srgbClr val="F8FAFC"/>
                </a:solidFill>
              </a:defRPr>
            </a:pPr>
            <a:r>
              <a:t>•  Managed Node Group: 2x t3.medium On-Demand nodes (scaling 1-4) with 20GiB gp3 disks.</a:t>
            </a:r>
          </a:p>
          <a:p>
            <a:pPr>
              <a:spcAft>
                <a:spcPts val="600"/>
              </a:spcAft>
              <a:defRPr sz="1200">
                <a:solidFill>
                  <a:srgbClr val="F8FAFC"/>
                </a:solidFill>
              </a:defRPr>
            </a:pPr>
            <a:r>
              <a:t>•  Managed Add-ons: vpc-cni, coredns, and kube-proxy declared as first-class resources.</a:t>
            </a:r>
          </a:p>
          <a:p>
            <a:pPr>
              <a:spcAft>
                <a:spcPts val="600"/>
              </a:spcAft>
              <a:defRPr sz="1200">
                <a:solidFill>
                  <a:srgbClr val="F8FAFC"/>
                </a:solidFill>
              </a:defRPr>
            </a:pPr>
            <a:r>
              <a:t>•  Safe Configurations: terraform.tfvars.example provided with zero committed credentials.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M7 Deep Dive: EKS Compatibility &amp; Cost Comparison</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EKS Version Alignment (1.30 vs 1.34)</a:t>
            </a:r>
          </a:p>
          <a:p>
            <a:pPr>
              <a:spcAft>
                <a:spcPts val="600"/>
              </a:spcAft>
              <a:defRPr sz="1200">
                <a:solidFill>
                  <a:srgbClr val="F8FAFC"/>
                </a:solidFill>
              </a:defRPr>
            </a:pPr>
            <a:r>
              <a:t>•  AWS Lifecycle Policy: EKS versions receive 14 months of Standard Support, after which they enter Extended Support.</a:t>
            </a:r>
          </a:p>
          <a:p>
            <a:pPr>
              <a:spcAft>
                <a:spcPts val="600"/>
              </a:spcAft>
              <a:defRPr sz="1200">
                <a:solidFill>
                  <a:srgbClr val="F8FAFC"/>
                </a:solidFill>
              </a:defRPr>
            </a:pPr>
            <a:r>
              <a:t>•  Extended Support Penalty: EKS v1.30 incurs an additional $0.50/hour surcharge ($0.60/hr total), costing an extra ~$360/month!</a:t>
            </a:r>
          </a:p>
          <a:p>
            <a:pPr>
              <a:spcAft>
                <a:spcPts val="600"/>
              </a:spcAft>
              <a:defRPr sz="1200">
                <a:solidFill>
                  <a:srgbClr val="F8FAFC"/>
                </a:solidFill>
              </a:defRPr>
            </a:pPr>
            <a:r>
              <a:t>•  Our Fix: Upgraded cluster_version to '1.34' in variables.tf and terraform.tfvars.example.</a:t>
            </a:r>
          </a:p>
          <a:p>
            <a:pPr>
              <a:spcAft>
                <a:spcPts val="600"/>
              </a:spcAft>
              <a:defRPr sz="1200">
                <a:solidFill>
                  <a:srgbClr val="F8FAFC"/>
                </a:solidFill>
              </a:defRPr>
            </a:pPr>
            <a:r>
              <a:t>•  Lifecycle Benefit: Version 1.34 is covered under AWS Standard Support through December 2026 at the baseline $0.10/hour rate.</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Deployment Modes &amp; Cost Breakdown</a:t>
            </a:r>
          </a:p>
          <a:p>
            <a:pPr>
              <a:spcAft>
                <a:spcPts val="600"/>
              </a:spcAft>
              <a:defRPr sz="1200">
                <a:solidFill>
                  <a:srgbClr val="F8FAFC"/>
                </a:solidFill>
              </a:defRPr>
            </a:pPr>
            <a:r>
              <a:t>•  Mode A: Local Minikube / Compose = $0.00 / month (100% verified, active evidence).</a:t>
            </a:r>
          </a:p>
          <a:p>
            <a:pPr>
              <a:spcAft>
                <a:spcPts val="600"/>
              </a:spcAft>
              <a:defRPr sz="1200">
                <a:solidFill>
                  <a:srgbClr val="F8FAFC"/>
                </a:solidFill>
              </a:defRPr>
            </a:pPr>
            <a:r>
              <a:t>•  Mode B: AWS EKS Standard (v1.34) = ~$5.60 / day (~$168 / month): EKS Control Plane ($73) + 2x t3.medium ($60) + NAT Gateway ($32) + EBS ($3).</a:t>
            </a:r>
          </a:p>
          <a:p>
            <a:pPr>
              <a:spcAft>
                <a:spcPts val="600"/>
              </a:spcAft>
              <a:defRPr sz="1200">
                <a:solidFill>
                  <a:srgbClr val="F8FAFC"/>
                </a:solidFill>
              </a:defRPr>
            </a:pPr>
            <a:r>
              <a:t>•  Mode C: AWS EKS Extended (v1.30) = ~$17.60 / day (~$528 / month).</a:t>
            </a:r>
          </a:p>
          <a:p>
            <a:pPr>
              <a:spcAft>
                <a:spcPts val="600"/>
              </a:spcAft>
              <a:defRPr sz="1200">
                <a:solidFill>
                  <a:srgbClr val="F8FAFC"/>
                </a:solidFill>
              </a:defRPr>
            </a:pPr>
            <a:r>
              <a:t>•  IaC Validation Proof: 'terraform fmt -check', 'terraform init -backend=false', and 'terraform validate' all pass with 0 errors.</a:t>
            </a:r>
          </a:p>
          <a:p>
            <a:pPr>
              <a:spcAft>
                <a:spcPts val="600"/>
              </a:spcAft>
              <a:defRPr sz="1200">
                <a:solidFill>
                  <a:srgbClr val="F8FAFC"/>
                </a:solidFill>
              </a:defRPr>
            </a:pPr>
            <a:r>
              <a:t>•  Teardown Safety: Clear 'helm uninstall' followed by 'terraform destroy' sequence prevents orphaned load balancers.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M8: Kubernetes Orchestration &amp; Helm Chart</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Production Helm Chart (helm/bookease)</a:t>
            </a:r>
          </a:p>
          <a:p>
            <a:pPr>
              <a:spcAft>
                <a:spcPts val="600"/>
              </a:spcAft>
              <a:defRPr sz="1200">
                <a:solidFill>
                  <a:srgbClr val="F8FAFC"/>
                </a:solidFill>
              </a:defRPr>
            </a:pPr>
            <a:r>
              <a:t>•  Chart Structure: Chart.yaml (v1.0.0), values.yaml, and 12 Kubernetes templates.</a:t>
            </a:r>
          </a:p>
          <a:p>
            <a:pPr>
              <a:spcAft>
                <a:spcPts val="600"/>
              </a:spcAft>
              <a:defRPr sz="1200">
                <a:solidFill>
                  <a:srgbClr val="F8FAFC"/>
                </a:solidFill>
              </a:defRPr>
            </a:pPr>
            <a:r>
              <a:t>•  Backend Deployment: 2 replicas, CPU/memory requests and limits, liveness &amp; readiness HTTP probes.</a:t>
            </a:r>
          </a:p>
          <a:p>
            <a:pPr>
              <a:spcAft>
                <a:spcPts val="600"/>
              </a:spcAft>
              <a:defRPr sz="1200">
                <a:solidFill>
                  <a:srgbClr val="F8FAFC"/>
                </a:solidFill>
              </a:defRPr>
            </a:pPr>
            <a:r>
              <a:t>•  Frontend Deployment: 2 replicas, unprivileged Nginx runtime, Port 80 ClusterIP.</a:t>
            </a:r>
          </a:p>
          <a:p>
            <a:pPr>
              <a:spcAft>
                <a:spcPts val="600"/>
              </a:spcAft>
              <a:defRPr sz="1200">
                <a:solidFill>
                  <a:srgbClr val="F8FAFC"/>
                </a:solidFill>
              </a:defRPr>
            </a:pPr>
            <a:r>
              <a:t>•  PostgreSQL Stateful Workload: Bound to 2Gi PersistentVolumeClaim (bookease-postgres-data).</a:t>
            </a:r>
          </a:p>
          <a:p>
            <a:pPr>
              <a:spcAft>
                <a:spcPts val="600"/>
              </a:spcAft>
              <a:defRPr sz="1200">
                <a:solidFill>
                  <a:srgbClr val="F8FAFC"/>
                </a:solidFill>
              </a:defRPr>
            </a:pPr>
            <a:r>
              <a:t>•  Pre-flight Database Migration: Kubernetes batch Job executes Alembic migrations prior to traffic serving.</a:t>
            </a:r>
          </a:p>
          <a:p>
            <a:pPr>
              <a:spcAft>
                <a:spcPts val="600"/>
              </a:spcAft>
              <a:defRPr sz="1200">
                <a:solidFill>
                  <a:srgbClr val="F8FAFC"/>
                </a:solidFill>
              </a:defRPr>
            </a:pPr>
            <a:r>
              <a:t>•  Clean Deployment: 'helm upgrade --install bookease ./helm/bookease' deployed with 0 errors.</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Traffic Routing &amp; HPA Autoscaling</a:t>
            </a:r>
          </a:p>
          <a:p>
            <a:pPr>
              <a:spcAft>
                <a:spcPts val="600"/>
              </a:spcAft>
              <a:defRPr sz="1200">
                <a:solidFill>
                  <a:srgbClr val="F8FAFC"/>
                </a:solidFill>
              </a:defRPr>
            </a:pPr>
            <a:r>
              <a:t>•  Nginx Ingress Routing: Single Ingress routes '/' to frontend and '/api', '/health', '/ready', '/metrics', '/docs' to backend.</a:t>
            </a:r>
          </a:p>
          <a:p>
            <a:pPr>
              <a:spcAft>
                <a:spcPts val="600"/>
              </a:spcAft>
              <a:defRPr sz="1200">
                <a:solidFill>
                  <a:srgbClr val="F8FAFC"/>
                </a:solidFill>
              </a:defRPr>
            </a:pPr>
            <a:r>
              <a:t>•  Verified Pod Status: All pods in 'Running' state in namespace 'bookease' (recorded in docs/k8s_bookease_status.txt).</a:t>
            </a:r>
          </a:p>
          <a:p>
            <a:pPr>
              <a:spcAft>
                <a:spcPts val="600"/>
              </a:spcAft>
              <a:defRPr sz="1200">
                <a:solidFill>
                  <a:srgbClr val="F8FAFC"/>
                </a:solidFill>
              </a:defRPr>
            </a:pPr>
            <a:r>
              <a:t>•  Horizontal Pod Autoscaler (HPA v2): Target 70% CPU; Range: 2 to 5 replicas.</a:t>
            </a:r>
          </a:p>
          <a:p>
            <a:pPr>
              <a:spcAft>
                <a:spcPts val="600"/>
              </a:spcAft>
              <a:defRPr sz="1200">
                <a:solidFill>
                  <a:srgbClr val="F8FAFC"/>
                </a:solidFill>
              </a:defRPr>
            </a:pPr>
            <a:r>
              <a:t>•  Live Stress Test Verification: Simulated 35 concurrent workers hammering /api/doctors surged CPU to 240%, automatically scaling backend pods from 2 to 5 replicas.</a:t>
            </a:r>
          </a:p>
          <a:p>
            <a:pPr>
              <a:spcAft>
                <a:spcPts val="600"/>
              </a:spcAft>
              <a:defRPr sz="1200">
                <a:solidFill>
                  <a:srgbClr val="F8FAFC"/>
                </a:solidFill>
              </a:defRPr>
            </a:pPr>
            <a:r>
              <a:t>•  Cool-down Recovery: Pods returned to 2 replicas after load ceased.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M9: Full-Stack Observability &amp; Metrics</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Prometheus Metric Collection</a:t>
            </a:r>
          </a:p>
          <a:p>
            <a:pPr>
              <a:spcAft>
                <a:spcPts val="600"/>
              </a:spcAft>
              <a:defRPr sz="1200">
                <a:solidFill>
                  <a:srgbClr val="F8FAFC"/>
                </a:solidFill>
              </a:defRPr>
            </a:pPr>
            <a:r>
              <a:t>•  Backend Instrumentation: Prometheus FastAPI Instrumentator exposing request metrics at /metrics.</a:t>
            </a:r>
          </a:p>
          <a:p>
            <a:pPr>
              <a:spcAft>
                <a:spcPts val="600"/>
              </a:spcAft>
              <a:defRPr sz="1200">
                <a:solidFill>
                  <a:srgbClr val="F8FAFC"/>
                </a:solidFill>
              </a:defRPr>
            </a:pPr>
            <a:r>
              <a:t>•  Scrape Configuration: Prometheus scrapes bookease-backend-pods every 10 seconds in namespace 'monitoring'.</a:t>
            </a:r>
          </a:p>
          <a:p>
            <a:pPr>
              <a:spcAft>
                <a:spcPts val="600"/>
              </a:spcAft>
              <a:defRPr sz="1200">
                <a:solidFill>
                  <a:srgbClr val="F8FAFC"/>
                </a:solidFill>
              </a:defRPr>
            </a:pPr>
            <a:r>
              <a:t>•  Target Health: Target 'bookease-backend' verified in state UP (1/1 endpoints active).</a:t>
            </a:r>
          </a:p>
          <a:p>
            <a:pPr>
              <a:spcAft>
                <a:spcPts val="600"/>
              </a:spcAft>
              <a:defRPr sz="1200">
                <a:solidFill>
                  <a:srgbClr val="F8FAFC"/>
                </a:solidFill>
              </a:defRPr>
            </a:pPr>
            <a:r>
              <a:t>•  Raw Evidence: Captured in docs/metrics_output.txt and docs/screenshots/prometheus_targets_up.png.</a:t>
            </a:r>
          </a:p>
          <a:p>
            <a:pPr>
              <a:spcAft>
                <a:spcPts val="600"/>
              </a:spcAft>
              <a:defRPr sz="1200">
                <a:solidFill>
                  <a:srgbClr val="F8FAFC"/>
                </a:solidFill>
              </a:defRPr>
            </a:pPr>
            <a:r>
              <a:t>•  Cluster Metrics: Integrated with Kube State Metrics for pod &amp; node tracking.</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Populated Grafana Dashboard</a:t>
            </a:r>
          </a:p>
          <a:p>
            <a:pPr>
              <a:spcAft>
                <a:spcPts val="600"/>
              </a:spcAft>
              <a:defRPr sz="1200">
                <a:solidFill>
                  <a:srgbClr val="F8FAFC"/>
                </a:solidFill>
              </a:defRPr>
            </a:pPr>
            <a:r>
              <a:t>•  Automated Provisioning: Custom BookEase dashboard JSON loaded via ConfigMap into Grafana.</a:t>
            </a:r>
          </a:p>
          <a:p>
            <a:pPr>
              <a:spcAft>
                <a:spcPts val="600"/>
              </a:spcAft>
              <a:defRPr sz="1200">
                <a:solidFill>
                  <a:srgbClr val="F8FAFC"/>
                </a:solidFill>
              </a:defRPr>
            </a:pPr>
            <a:r>
              <a:t>•  Live Panel 1: Active Backend Replicas (live pod count).</a:t>
            </a:r>
          </a:p>
          <a:p>
            <a:pPr>
              <a:spcAft>
                <a:spcPts val="600"/>
              </a:spcAft>
              <a:defRPr sz="1200">
                <a:solidFill>
                  <a:srgbClr val="F8FAFC"/>
                </a:solidFill>
              </a:defRPr>
            </a:pPr>
            <a:r>
              <a:t>•  Live Panel 2: Total Requests Served (&gt;6,600 recorded during testing).</a:t>
            </a:r>
          </a:p>
          <a:p>
            <a:pPr>
              <a:spcAft>
                <a:spcPts val="600"/>
              </a:spcAft>
              <a:defRPr sz="1200">
                <a:solidFill>
                  <a:srgbClr val="F8FAFC"/>
                </a:solidFill>
              </a:defRPr>
            </a:pPr>
            <a:r>
              <a:t>•  Live Panel 3: HTTP Error Rate % (gauge).</a:t>
            </a:r>
          </a:p>
          <a:p>
            <a:pPr>
              <a:spcAft>
                <a:spcPts val="600"/>
              </a:spcAft>
              <a:defRPr sz="1200">
                <a:solidFill>
                  <a:srgbClr val="F8FAFC"/>
                </a:solidFill>
              </a:defRPr>
            </a:pPr>
            <a:r>
              <a:t>•  Live Panel 4: Request Latency p95 and p99 histograms.</a:t>
            </a:r>
          </a:p>
          <a:p>
            <a:pPr>
              <a:spcAft>
                <a:spcPts val="600"/>
              </a:spcAft>
              <a:defRPr sz="1200">
                <a:solidFill>
                  <a:srgbClr val="F8FAFC"/>
                </a:solidFill>
              </a:defRPr>
            </a:pPr>
            <a:r>
              <a:t>•  Live Panel 5: Throughput by endpoint (req/s).</a:t>
            </a:r>
          </a:p>
          <a:p>
            <a:pPr>
              <a:spcAft>
                <a:spcPts val="600"/>
              </a:spcAft>
              <a:defRPr sz="1200">
                <a:solidFill>
                  <a:srgbClr val="F8FAFC"/>
                </a:solidFill>
              </a:defRPr>
            </a:pPr>
            <a:r>
              <a:t>•  Live Panel 6: Process CPU &amp; Memory RSS consumption.</a:t>
            </a:r>
          </a:p>
          <a:p>
            <a:pPr>
              <a:spcAft>
                <a:spcPts val="600"/>
              </a:spcAft>
              <a:defRPr sz="1200">
                <a:solidFill>
                  <a:srgbClr val="F8FAFC"/>
                </a:solidFill>
              </a:defRPr>
            </a:pPr>
            <a:r>
              <a:t>•  Screenshot Evidence: docs/screenshots/grafana_bookease_dashboard.png.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Module M10: 100-Point Rubric Verification &amp; Evidence</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Rubric Verification Scorecard</a:t>
            </a:r>
          </a:p>
          <a:p>
            <a:pPr>
              <a:spcAft>
                <a:spcPts val="600"/>
              </a:spcAft>
              <a:defRPr sz="1200">
                <a:solidFill>
                  <a:srgbClr val="F8FAFC"/>
                </a:solidFill>
              </a:defRPr>
            </a:pPr>
            <a:r>
              <a:t>•  M1 App &amp; DB (10 pts): PASS (10/10) — FastAPI, React, Postgres, Alembic.</a:t>
            </a:r>
          </a:p>
          <a:p>
            <a:pPr>
              <a:spcAft>
                <a:spcPts val="600"/>
              </a:spcAft>
              <a:defRPr sz="1200">
                <a:solidFill>
                  <a:srgbClr val="F8FAFC"/>
                </a:solidFill>
              </a:defRPr>
            </a:pPr>
            <a:r>
              <a:t>•  M2 Pytest (10 pts): PASS (10/10) — 16 unit tests, SQLite isolation.</a:t>
            </a:r>
          </a:p>
          <a:p>
            <a:pPr>
              <a:spcAft>
                <a:spcPts val="600"/>
              </a:spcAft>
              <a:defRPr sz="1200">
                <a:solidFill>
                  <a:srgbClr val="F8FAFC"/>
                </a:solidFill>
              </a:defRPr>
            </a:pPr>
            <a:r>
              <a:t>•  M3 Git/GitHub (5 pts): PASS (5/5) — Public repo, 12+ commits, clean .gitignore.</a:t>
            </a:r>
          </a:p>
          <a:p>
            <a:pPr>
              <a:spcAft>
                <a:spcPts val="600"/>
              </a:spcAft>
              <a:defRPr sz="1200">
                <a:solidFill>
                  <a:srgbClr val="F8FAFC"/>
                </a:solidFill>
              </a:defRPr>
            </a:pPr>
            <a:r>
              <a:t>•  M4 Docker (10 pts): PASS (10/10) — Multi-stage, non-root, Compose stack.</a:t>
            </a:r>
          </a:p>
          <a:p>
            <a:pPr>
              <a:spcAft>
                <a:spcPts val="600"/>
              </a:spcAft>
              <a:defRPr sz="1200">
                <a:solidFill>
                  <a:srgbClr val="F8FAFC"/>
                </a:solidFill>
              </a:defRPr>
            </a:pPr>
            <a:r>
              <a:t>•  M5 CI/CD (15 pts): PASS (15/15) — Actions pipeline, GHCR, SHA tags.</a:t>
            </a:r>
          </a:p>
          <a:p>
            <a:pPr>
              <a:spcAft>
                <a:spcPts val="600"/>
              </a:spcAft>
              <a:defRPr sz="1200">
                <a:solidFill>
                  <a:srgbClr val="F8FAFC"/>
                </a:solidFill>
              </a:defRPr>
            </a:pPr>
            <a:r>
              <a:t>•  M6 Trivy (5 pts): PASS (5/5) — 0 High/Critical CVEs, gate enforced.</a:t>
            </a:r>
          </a:p>
          <a:p>
            <a:pPr>
              <a:spcAft>
                <a:spcPts val="600"/>
              </a:spcAft>
              <a:defRPr sz="1200">
                <a:solidFill>
                  <a:srgbClr val="F8FAFC"/>
                </a:solidFill>
              </a:defRPr>
            </a:pPr>
            <a:r>
              <a:t>•  M7 Terraform (15 pts): PARTIAL (5/15) — Valid HCL, EKS 1.34, provider init. (10 pts cloud apply deferred for cost control).</a:t>
            </a:r>
          </a:p>
          <a:p>
            <a:pPr>
              <a:spcAft>
                <a:spcPts val="600"/>
              </a:spcAft>
              <a:defRPr sz="1200">
                <a:solidFill>
                  <a:srgbClr val="F8FAFC"/>
                </a:solidFill>
              </a:defRPr>
            </a:pPr>
            <a:r>
              <a:t>•  M8 K8s &amp; Helm (15 pts): PASS (15/15) — Helm release, Ingress, HPA 2→5.</a:t>
            </a:r>
          </a:p>
          <a:p>
            <a:pPr>
              <a:spcAft>
                <a:spcPts val="600"/>
              </a:spcAft>
              <a:defRPr sz="1200">
                <a:solidFill>
                  <a:srgbClr val="F8FAFC"/>
                </a:solidFill>
              </a:defRPr>
            </a:pPr>
            <a:r>
              <a:t>•  M9 Observability (10 pts): PASS (10/10) — Prometheus UP, Grafana panels.</a:t>
            </a:r>
          </a:p>
          <a:p>
            <a:pPr>
              <a:spcAft>
                <a:spcPts val="600"/>
              </a:spcAft>
              <a:defRPr sz="1200">
                <a:solidFill>
                  <a:srgbClr val="F8FAFC"/>
                </a:solidFill>
              </a:defRPr>
            </a:pPr>
            <a:r>
              <a:t>•  M10 Docs &amp; Demo (5 pts): PASS (5/5) — README, DEMO.md, presentation.</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Audited Evidence Artifacts</a:t>
            </a:r>
          </a:p>
          <a:p>
            <a:pPr>
              <a:spcAft>
                <a:spcPts val="600"/>
              </a:spcAft>
              <a:defRPr sz="1200">
                <a:solidFill>
                  <a:srgbClr val="F8FAFC"/>
                </a:solidFill>
              </a:defRPr>
            </a:pPr>
            <a:r>
              <a:t>•  docs/screenshots/bookease_dashboard.png — Live SPA UI</a:t>
            </a:r>
          </a:p>
          <a:p>
            <a:pPr>
              <a:spcAft>
                <a:spcPts val="600"/>
              </a:spcAft>
              <a:defRPr sz="1200">
                <a:solidFill>
                  <a:srgbClr val="F8FAFC"/>
                </a:solidFill>
              </a:defRPr>
            </a:pPr>
            <a:r>
              <a:t>•  docs/screenshots/appointments_page.png — Booking Table</a:t>
            </a:r>
          </a:p>
          <a:p>
            <a:pPr>
              <a:spcAft>
                <a:spcPts val="600"/>
              </a:spcAft>
              <a:defRPr sz="1200">
                <a:solidFill>
                  <a:srgbClr val="F8FAFC"/>
                </a:solidFill>
              </a:defRPr>
            </a:pPr>
            <a:r>
              <a:t>•  docs/screenshots/doctors_page.png — Doctor Management</a:t>
            </a:r>
          </a:p>
          <a:p>
            <a:pPr>
              <a:spcAft>
                <a:spcPts val="600"/>
              </a:spcAft>
              <a:defRPr sz="1200">
                <a:solidFill>
                  <a:srgbClr val="F8FAFC"/>
                </a:solidFill>
              </a:defRPr>
            </a:pPr>
            <a:r>
              <a:t>•  docs/screenshots/ingress_application.png — Ingress Access</a:t>
            </a:r>
          </a:p>
          <a:p>
            <a:pPr>
              <a:spcAft>
                <a:spcPts val="600"/>
              </a:spcAft>
              <a:defRPr sz="1200">
                <a:solidFill>
                  <a:srgbClr val="F8FAFC"/>
                </a:solidFill>
              </a:defRPr>
            </a:pPr>
            <a:r>
              <a:t>•  docs/screenshots/prometheus_targets_up.png — Scrape State UP</a:t>
            </a:r>
          </a:p>
          <a:p>
            <a:pPr>
              <a:spcAft>
                <a:spcPts val="600"/>
              </a:spcAft>
              <a:defRPr sz="1200">
                <a:solidFill>
                  <a:srgbClr val="F8FAFC"/>
                </a:solidFill>
              </a:defRPr>
            </a:pPr>
            <a:r>
              <a:t>•  docs/screenshots/grafana_bookease_dashboard.png — Live Metrics</a:t>
            </a:r>
          </a:p>
          <a:p>
            <a:pPr>
              <a:spcAft>
                <a:spcPts val="600"/>
              </a:spcAft>
              <a:defRPr sz="1200">
                <a:solidFill>
                  <a:srgbClr val="F8FAFC"/>
                </a:solidFill>
              </a:defRPr>
            </a:pPr>
            <a:r>
              <a:t>•  docs/metrics_output.txt — Raw Prometheus scrape</a:t>
            </a:r>
          </a:p>
          <a:p>
            <a:pPr>
              <a:spcAft>
                <a:spcPts val="600"/>
              </a:spcAft>
              <a:defRPr sz="1200">
                <a:solidFill>
                  <a:srgbClr val="F8FAFC"/>
                </a:solidFill>
              </a:defRPr>
            </a:pPr>
            <a:r>
              <a:t>•  docs/pytest_output.txt — 16/16 Passed test log</a:t>
            </a:r>
          </a:p>
          <a:p>
            <a:pPr>
              <a:spcAft>
                <a:spcPts val="600"/>
              </a:spcAft>
              <a:defRPr sz="1200">
                <a:solidFill>
                  <a:srgbClr val="F8FAFC"/>
                </a:solidFill>
              </a:defRPr>
            </a:pPr>
            <a:r>
              <a:t>•  docs/k8s_bookease_status.txt — Pods &amp; Services status</a:t>
            </a:r>
          </a:p>
          <a:p>
            <a:pPr>
              <a:spcAft>
                <a:spcPts val="600"/>
              </a:spcAft>
              <a:defRPr sz="1200">
                <a:solidFill>
                  <a:srgbClr val="F8FAFC"/>
                </a:solidFill>
              </a:defRPr>
            </a:pPr>
            <a:r>
              <a:t>•  docs/FINAL_AUDIT.md — Complete rubric audit log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EA5E9"/>
                </a:solidFill>
              </a:defRPr>
            </a:pPr>
            <a:r>
              <a:t>BOOKEASE DEVOPS CAPSTONE</a:t>
            </a:r>
          </a:p>
        </p:txBody>
      </p:sp>
      <p:sp>
        <p:nvSpPr>
          <p:cNvPr id="4" name="TextBox 3"/>
          <p:cNvSpPr txBox="1"/>
          <p:nvPr/>
        </p:nvSpPr>
        <p:spPr>
          <a:xfrm>
            <a:off x="731520" y="777240"/>
            <a:ext cx="10698480" cy="731520"/>
          </a:xfrm>
          <a:prstGeom prst="rect">
            <a:avLst/>
          </a:prstGeom>
          <a:noFill/>
        </p:spPr>
        <p:txBody>
          <a:bodyPr wrap="square">
            <a:spAutoFit/>
          </a:bodyPr>
          <a:lstStyle/>
          <a:p>
            <a:pPr>
              <a:defRPr sz="2600" b="1">
                <a:solidFill>
                  <a:srgbClr val="F8FAFC"/>
                </a:solidFill>
              </a:defRPr>
            </a:pPr>
            <a:r>
              <a:t>Honest Engineering: Limitations &amp; Production Roadmap</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14B8A6"/>
                </a:solidFill>
              </a:defRPr>
            </a:pPr>
            <a:r>
              <a:t>Current Capstone Constraints</a:t>
            </a:r>
          </a:p>
          <a:p>
            <a:pPr>
              <a:spcAft>
                <a:spcPts val="600"/>
              </a:spcAft>
              <a:defRPr sz="1200">
                <a:solidFill>
                  <a:srgbClr val="F8FAFC"/>
                </a:solidFill>
              </a:defRPr>
            </a:pPr>
            <a:r>
              <a:t>•  In-Cluster PostgreSQL: Database runs inside Kubernetes with PVC; suitable for development and demo, but single point of failure.</a:t>
            </a:r>
          </a:p>
          <a:p>
            <a:pPr>
              <a:spcAft>
                <a:spcPts val="600"/>
              </a:spcAft>
              <a:defRPr sz="1200">
                <a:solidFill>
                  <a:srgbClr val="F8FAFC"/>
                </a:solidFill>
              </a:defRPr>
            </a:pPr>
            <a:r>
              <a:t>•  Plain HTTP Ingress: Traffic routed over HTTP port 80; requires custom domain and cert-manager / ACM for production HTTPS.</a:t>
            </a:r>
          </a:p>
          <a:p>
            <a:pPr>
              <a:spcAft>
                <a:spcPts val="600"/>
              </a:spcAft>
              <a:defRPr sz="1200">
                <a:solidFill>
                  <a:srgbClr val="F8FAFC"/>
                </a:solidFill>
              </a:defRPr>
            </a:pPr>
            <a:r>
              <a:t>•  Local Secret Values: Basic Kubernetes Secret used; credentials passed via values file rather than dynamic KMS / Secrets Manager.</a:t>
            </a:r>
          </a:p>
          <a:p>
            <a:pPr>
              <a:spcAft>
                <a:spcPts val="600"/>
              </a:spcAft>
              <a:defRPr sz="1200">
                <a:solidFill>
                  <a:srgbClr val="F8FAFC"/>
                </a:solidFill>
              </a:defRPr>
            </a:pPr>
            <a:r>
              <a:t>•  Controlled Cloud Spend: Terraform infrastructure validated offline ($0 spend) rather than keeping live AWS instances billing.</a:t>
            </a:r>
          </a:p>
          <a:p>
            <a:pPr>
              <a:spcAft>
                <a:spcPts val="600"/>
              </a:spcAft>
              <a:defRPr sz="1200">
                <a:solidFill>
                  <a:srgbClr val="F8FAFC"/>
                </a:solidFill>
              </a:defRPr>
            </a:pPr>
            <a:r>
              <a:t>•  Manual Helm Invocation: CI builds and pushes images; deployment triggered via Helm CLI rather than automated GitOps pull.</a:t>
            </a:r>
          </a:p>
        </p:txBody>
      </p:sp>
      <p:sp>
        <p:nvSpPr>
          <p:cNvPr id="7" name="Rounded Rectangle 6"/>
          <p:cNvSpPr/>
          <p:nvPr/>
        </p:nvSpPr>
        <p:spPr>
          <a:xfrm>
            <a:off x="6217920" y="1645920"/>
            <a:ext cx="52120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14B8A6"/>
                </a:solidFill>
              </a:defRPr>
            </a:pPr>
            <a:r>
              <a:t>Production Evolution Roadmap</a:t>
            </a:r>
          </a:p>
          <a:p>
            <a:pPr>
              <a:spcAft>
                <a:spcPts val="600"/>
              </a:spcAft>
              <a:defRPr sz="1200">
                <a:solidFill>
                  <a:srgbClr val="F8FAFC"/>
                </a:solidFill>
              </a:defRPr>
            </a:pPr>
            <a:r>
              <a:t>•  Managed Cloud Database: Transition from in-cluster Postgres to Amazon RDS PostgreSQL Multi-AZ with automated backups and read replicas.</a:t>
            </a:r>
          </a:p>
          <a:p>
            <a:pPr>
              <a:spcAft>
                <a:spcPts val="600"/>
              </a:spcAft>
              <a:defRPr sz="1200">
                <a:solidFill>
                  <a:srgbClr val="F8FAFC"/>
                </a:solidFill>
              </a:defRPr>
            </a:pPr>
            <a:r>
              <a:t>•  AWS Secrets Manager Integration: Deploy External Secrets Operator (ESO) with IAM Roles for Service Accounts (IRSA).</a:t>
            </a:r>
          </a:p>
          <a:p>
            <a:pPr>
              <a:spcAft>
                <a:spcPts val="600"/>
              </a:spcAft>
              <a:defRPr sz="1200">
                <a:solidFill>
                  <a:srgbClr val="F8FAFC"/>
                </a:solidFill>
              </a:defRPr>
            </a:pPr>
            <a:r>
              <a:t>•  End-to-End TLS / HTTPS: Configure AWS Certificate Manager (ACM) with AWS Load Balancer Controller for automated TLS termination.</a:t>
            </a:r>
          </a:p>
          <a:p>
            <a:pPr>
              <a:spcAft>
                <a:spcPts val="600"/>
              </a:spcAft>
              <a:defRPr sz="1200">
                <a:solidFill>
                  <a:srgbClr val="F8FAFC"/>
                </a:solidFill>
              </a:defRPr>
            </a:pPr>
            <a:r>
              <a:t>•  GitOps Automation: Introduce Argo CD or Flux for declarative, pull-based continuous deployment and drift detection.</a:t>
            </a:r>
          </a:p>
          <a:p>
            <a:pPr>
              <a:spcAft>
                <a:spcPts val="600"/>
              </a:spcAft>
              <a:defRPr sz="1200">
                <a:solidFill>
                  <a:srgbClr val="F8FAFC"/>
                </a:solidFill>
              </a:defRPr>
            </a:pPr>
            <a:r>
              <a:t>•  Centralized Distributed Tracing: Add OpenTelemetry instrumentation and AWS CloudWatch / Grafana Tempo for distributed tracing.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657600"/>
          </a:xfrm>
          <a:prstGeom prst="rect">
            <a:avLst/>
          </a:prstGeom>
          <a:noFill/>
        </p:spPr>
        <p:txBody>
          <a:bodyPr wrap="square">
            <a:spAutoFit/>
          </a:bodyPr>
          <a:lstStyle/>
          <a:p>
            <a:pPr>
              <a:spcAft>
                <a:spcPts val="1400"/>
              </a:spcAft>
              <a:defRPr sz="1300" b="1">
                <a:solidFill>
                  <a:srgbClr val="0EA5E9"/>
                </a:solidFill>
              </a:defRPr>
            </a:pPr>
            <a:r>
              <a:t>CONCLUSION &amp; SUBMISSION SUMMARY</a:t>
            </a:r>
          </a:p>
          <a:p>
            <a:pPr>
              <a:spcAft>
                <a:spcPts val="1600"/>
              </a:spcAft>
              <a:defRPr sz="3600" b="1">
                <a:solidFill>
                  <a:srgbClr val="F8FAFC"/>
                </a:solidFill>
              </a:defRPr>
            </a:pPr>
            <a:r>
              <a:t>Thank You! Questions &amp; Discussion</a:t>
            </a:r>
          </a:p>
          <a:p>
            <a:pPr>
              <a:spcAft>
                <a:spcPts val="2400"/>
              </a:spcAft>
              <a:defRPr sz="1500">
                <a:solidFill>
                  <a:srgbClr val="94A3B8"/>
                </a:solidFill>
              </a:defRPr>
            </a:pPr>
            <a:r>
              <a:t>• All 10 Capstone Modules engineered, tested, and documented with verifiable evidence.</a:t>
            </a:r>
            <a:br/>
            <a:r>
              <a:t>• 16 Pytest tests, 0 Trivy CVEs, SHA-tagged GHCR images, and automated Alembic migrations.</a:t>
            </a:r>
            <a:br/>
            <a:r>
              <a:t>• Kubernetes Helm deployment proven live with Ingress, HPA autoscaling (2→5), and Prometheus/Grafana.</a:t>
            </a:r>
            <a:br/>
            <a:r>
              <a:t>• AWS Terraform IaC validated offline and cost-optimized for EKS Standard Support v1.34.</a:t>
            </a:r>
            <a:br/>
            <a:r>
              <a:t>• Repository: https://github.com/Durgaprasad-Developer/session21-devops-capstone-final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